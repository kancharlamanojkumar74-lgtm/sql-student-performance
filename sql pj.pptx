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60" r:id="rId4"/>
    <p:sldId id="261" r:id="rId5"/>
    <p:sldId id="258" r:id="rId6"/>
    <p:sldId id="259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62" autoAdjust="0"/>
    <p:restoredTop sz="94660"/>
  </p:normalViewPr>
  <p:slideViewPr>
    <p:cSldViewPr snapToGrid="0">
      <p:cViewPr varScale="1">
        <p:scale>
          <a:sx n="71" d="100"/>
          <a:sy n="71" d="100"/>
        </p:scale>
        <p:origin x="53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C55A160E-BB31-40B6-9B05-78FA670987E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1F142F6-2C67-4F88-A9E5-A934F428C5D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785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A160E-BB31-40B6-9B05-78FA670987E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42F6-2C67-4F88-A9E5-A934F428C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322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A160E-BB31-40B6-9B05-78FA670987E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42F6-2C67-4F88-A9E5-A934F428C5D7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442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A160E-BB31-40B6-9B05-78FA670987E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42F6-2C67-4F88-A9E5-A934F428C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32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A160E-BB31-40B6-9B05-78FA670987E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42F6-2C67-4F88-A9E5-A934F428C5D7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062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A160E-BB31-40B6-9B05-78FA670987E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42F6-2C67-4F88-A9E5-A934F428C5D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428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A160E-BB31-40B6-9B05-78FA670987E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42F6-2C67-4F88-A9E5-A934F428C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77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A160E-BB31-40B6-9B05-78FA670987E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42F6-2C67-4F88-A9E5-A934F428C5D7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2640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A160E-BB31-40B6-9B05-78FA670987E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42F6-2C67-4F88-A9E5-A934F428C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840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A160E-BB31-40B6-9B05-78FA670987E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42F6-2C67-4F88-A9E5-A934F428C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135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A160E-BB31-40B6-9B05-78FA670987E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42F6-2C67-4F88-A9E5-A934F428C5D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510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A160E-BB31-40B6-9B05-78FA670987E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42F6-2C67-4F88-A9E5-A934F428C5D7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27774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A160E-BB31-40B6-9B05-78FA670987E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42F6-2C67-4F88-A9E5-A934F428C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71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A160E-BB31-40B6-9B05-78FA670987E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42F6-2C67-4F88-A9E5-A934F428C5D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9241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A160E-BB31-40B6-9B05-78FA670987E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42F6-2C67-4F88-A9E5-A934F428C5D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135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A160E-BB31-40B6-9B05-78FA670987E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42F6-2C67-4F88-A9E5-A934F428C5D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73076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A160E-BB31-40B6-9B05-78FA670987E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142F6-2C67-4F88-A9E5-A934F428C5D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1188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55A160E-BB31-40B6-9B05-78FA670987ED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1F142F6-2C67-4F88-A9E5-A934F428C5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383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72CC2A7-9378-590F-D383-6055D266AB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1006" y="448909"/>
            <a:ext cx="9144000" cy="1655762"/>
          </a:xfrm>
        </p:spPr>
        <p:txBody>
          <a:bodyPr>
            <a:normAutofit/>
          </a:bodyPr>
          <a:lstStyle/>
          <a:p>
            <a:r>
              <a:rPr lang="en-IN" sz="4800" b="1" dirty="0"/>
              <a:t>Student-Performance-Analysis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BF75A5-C22E-F807-7CE9-0156451946C4}"/>
              </a:ext>
            </a:extLst>
          </p:cNvPr>
          <p:cNvSpPr/>
          <p:nvPr/>
        </p:nvSpPr>
        <p:spPr>
          <a:xfrm>
            <a:off x="1338213" y="1354677"/>
            <a:ext cx="9864349" cy="41639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Developed a Student Performance Analysis System using PostgreSQL (</a:t>
            </a:r>
            <a:r>
              <a:rPr lang="en-US" sz="2400" dirty="0" err="1"/>
              <a:t>pgAdmin</a:t>
            </a:r>
            <a:r>
              <a:rPr lang="en-US" sz="2400" dirty="0"/>
              <a:t>) and Power BI.</a:t>
            </a:r>
          </a:p>
          <a:p>
            <a:r>
              <a:rPr lang="en-US" sz="2400" dirty="0"/>
              <a:t>Designed a relational database using ERD and created tables for students, subjects, scores, attendance, and study habits.</a:t>
            </a:r>
          </a:p>
          <a:p>
            <a:r>
              <a:rPr lang="en-US" sz="2400" dirty="0"/>
              <a:t>Used SQL for data insertion, joins, aggregations, and views to analyze student performance.</a:t>
            </a:r>
          </a:p>
          <a:p>
            <a:r>
              <a:rPr lang="en-US" sz="2400" dirty="0"/>
              <a:t>Connected the database with Power BI to create interactive dashboards for performance insights.</a:t>
            </a:r>
          </a:p>
          <a:p>
            <a:r>
              <a:rPr lang="en-US" sz="2400" dirty="0"/>
              <a:t>Analyzed key metrics such as average marks, attendance, subject performance, and top-performing students</a:t>
            </a:r>
            <a:r>
              <a:rPr lang="en-US" sz="1600" dirty="0"/>
              <a:t>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098266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7E26942-98D3-4165-B38A-63C16BDF6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2A9551-8286-49CA-BBAD-C9EDC4C11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537D9E9-B514-4404-BFC3-5CBEDA888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EED875C-CF65-41D6-80BB-B9927D3ACA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8EEE05CE-FD39-49D7-B1DC-97F47AC19E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C457D2B2-8F64-4CC9-B35C-5AB848D4E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C0B1CBA-2E53-2AB9-8BAA-F63655885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564" y="982132"/>
            <a:ext cx="4561069" cy="14167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/>
              <a:t>Data Definition Language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4EAC194-027A-40BE-95EB-F1EA2D2DAE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39418" y="2400639"/>
            <a:ext cx="40233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2203026-89A3-37E3-8699-77C73F6275DD}"/>
              </a:ext>
            </a:extLst>
          </p:cNvPr>
          <p:cNvSpPr txBox="1"/>
          <p:nvPr/>
        </p:nvSpPr>
        <p:spPr>
          <a:xfrm>
            <a:off x="1167385" y="2556932"/>
            <a:ext cx="4567427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Created four Tables with subject names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2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student_scores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attendance,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2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student_habits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4FCBB35-9C7D-454A-913C-5C78C1BB9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04708" y="1087821"/>
            <a:ext cx="2488529" cy="2227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FC92F99-EE81-0D6D-5F43-FA481ADD18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216" y="1385872"/>
            <a:ext cx="2266235" cy="1694011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20996CAB-BE2B-47B2-9653-1B02BA8F3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5486" y="1087821"/>
            <a:ext cx="2240567" cy="2226099"/>
          </a:xfrm>
          <a:prstGeom prst="rect">
            <a:avLst/>
          </a:prstGeom>
          <a:solidFill>
            <a:schemeClr val="bg1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D879EF-06C6-2525-18D2-8A0DB39700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80" t="-1" r="2768" b="8283"/>
          <a:stretch>
            <a:fillRect/>
          </a:stretch>
        </p:blipFill>
        <p:spPr>
          <a:xfrm>
            <a:off x="8876882" y="1288150"/>
            <a:ext cx="2130712" cy="1669718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E019FA98-7A89-4E6B-881A-C8D19F1FC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04708" y="3486394"/>
            <a:ext cx="2488529" cy="22755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3844E3-CAF1-0548-50E5-1EE2C95586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657" y="3684277"/>
            <a:ext cx="2371989" cy="1909452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D7C77F71-83B3-449E-8CD6-0652103C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5486" y="3486394"/>
            <a:ext cx="2240567" cy="2275588"/>
          </a:xfrm>
          <a:prstGeom prst="rect">
            <a:avLst/>
          </a:prstGeom>
          <a:solidFill>
            <a:schemeClr val="bg1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593147-2622-6125-1768-DA55BC38204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32" r="2232" b="5926"/>
          <a:stretch>
            <a:fillRect/>
          </a:stretch>
        </p:blipFill>
        <p:spPr>
          <a:xfrm>
            <a:off x="9010924" y="3550789"/>
            <a:ext cx="1961472" cy="217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392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428C1455-18F2-4B6A-B07E-2B31728BC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4C7D59C-11EB-4B8B-B5DD-A73CB6958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246E6BC9-FAE3-4F4B-B4B0-78753079BD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969418E-DB10-4886-85CE-BB603C895A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9B775CB6-A84D-4EFF-AA4B-123FD2944E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0297512A-9FDF-4EA1-8247-FA7BE647B5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94B9005-70B5-E619-626F-F6663ED8C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198" y="982132"/>
            <a:ext cx="4752626" cy="13038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4100" dirty="0"/>
              <a:t>Data Manipulation Language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29FB2B0-46A7-41CD-996A-B837EB0B4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4976495" cy="4641088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5F1781-4603-9BD3-EC41-F00EB44D05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11" b="-1"/>
          <a:stretch>
            <a:fillRect/>
          </a:stretch>
        </p:blipFill>
        <p:spPr>
          <a:xfrm>
            <a:off x="1193426" y="1241404"/>
            <a:ext cx="2262149" cy="2509223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5593735B-142F-4703-AF97-9E4693978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3147" y="1254050"/>
            <a:ext cx="2021427" cy="15119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D0B581B-6F81-44B8-8D75-3D6C1505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951" y="2400639"/>
            <a:ext cx="4389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F877318F-7135-4A7B-9C3B-68736EED2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7209" y="3922106"/>
            <a:ext cx="2494212" cy="165573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2DF2D8-92DE-5AEB-0109-E16676CDF8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" b="2743"/>
          <a:stretch>
            <a:fillRect/>
          </a:stretch>
        </p:blipFill>
        <p:spPr>
          <a:xfrm>
            <a:off x="1257967" y="3948530"/>
            <a:ext cx="2375811" cy="16557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4B1484-DFF0-B7CB-173A-036DB98ECE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955" b="4"/>
          <a:stretch>
            <a:fillRect/>
          </a:stretch>
        </p:blipFill>
        <p:spPr>
          <a:xfrm>
            <a:off x="3648294" y="1252264"/>
            <a:ext cx="2337644" cy="3470343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DE9DF810-C022-608B-1AF8-6126B86C6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2198" y="2556932"/>
            <a:ext cx="4752626" cy="3318936"/>
          </a:xfrm>
        </p:spPr>
        <p:txBody>
          <a:bodyPr>
            <a:normAutofit/>
          </a:bodyPr>
          <a:lstStyle/>
          <a:p>
            <a:r>
              <a:rPr lang="en-US" dirty="0"/>
              <a:t>Inserted values into tables</a:t>
            </a:r>
          </a:p>
          <a:p>
            <a:r>
              <a:rPr lang="en-US" dirty="0" err="1"/>
              <a:t>Study_habits</a:t>
            </a:r>
            <a:endParaRPr lang="en-US" dirty="0"/>
          </a:p>
          <a:p>
            <a:r>
              <a:rPr lang="en-US" dirty="0"/>
              <a:t>Students</a:t>
            </a:r>
          </a:p>
          <a:p>
            <a:r>
              <a:rPr lang="en-US" dirty="0" err="1"/>
              <a:t>Student_scores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64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B009EAA-F670-4D42-8911-6A21B1F65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0206C9E-7738-444F-A788-ED23F4EDD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8DC4A6B-1E68-43BA-B47E-0B0C776F56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CB474FC-CC12-46CA-8EF1-F65480527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3EE96D9-8AE9-44F2-91DD-FD9889F74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7D798CA-E264-49B2-B648-CE3C104A1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F2EAF68-C622-6ED8-F09D-96940CFAC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198" y="982132"/>
            <a:ext cx="4752626" cy="1303867"/>
          </a:xfrm>
        </p:spPr>
        <p:txBody>
          <a:bodyPr>
            <a:normAutofit/>
          </a:bodyPr>
          <a:lstStyle/>
          <a:p>
            <a:r>
              <a:rPr lang="en-IN" sz="4100"/>
              <a:t>Data Query Language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3BD8BA9-5094-40E2-8C0D-0D5249710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4976494" cy="4659376"/>
          </a:xfrm>
          <a:prstGeom prst="rect">
            <a:avLst/>
          </a:prstGeom>
          <a:solidFill>
            <a:schemeClr val="bg2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51AFF08-2660-4C5B-80A0-4CF0F7DBB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7209" y="1254051"/>
            <a:ext cx="2508652" cy="20945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0773FE-B510-BD6F-17AE-DDDD544306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574" y="1223327"/>
            <a:ext cx="2173723" cy="2113946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D1806480-925F-4DC7-B73F-16E710A81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3021" y="1254051"/>
            <a:ext cx="2013752" cy="1507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DB29B6-8CC3-AB55-76BE-9DC54849A3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992" y="1205873"/>
            <a:ext cx="1805537" cy="1579845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C657E24-673F-4631-943F-4F2814C59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951" y="2400639"/>
            <a:ext cx="4389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564766E3-106B-4330-A3FD-48DBCCBB6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7209" y="3509434"/>
            <a:ext cx="2508652" cy="20866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2EAFC6-91F6-9132-A7CD-E66DA4F632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510" y="3495807"/>
            <a:ext cx="2335852" cy="2113946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BAAD6469-661E-41B8-A999-5CCAA8CBF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10024" y="2917369"/>
            <a:ext cx="1996749" cy="26787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C693CA-09BE-9C71-F1FB-576726BD22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3460" y="2956581"/>
            <a:ext cx="2244600" cy="2632961"/>
          </a:xfrm>
          <a:prstGeom prst="rect">
            <a:avLst/>
          </a:prstGeo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A51DF0B-2928-DD1A-34D3-9FC70A3F8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2198" y="2556932"/>
            <a:ext cx="4752626" cy="3318936"/>
          </a:xfrm>
        </p:spPr>
        <p:txBody>
          <a:bodyPr>
            <a:normAutofit/>
          </a:bodyPr>
          <a:lstStyle/>
          <a:p>
            <a:r>
              <a:rPr lang="en-US" dirty="0" err="1"/>
              <a:t>Retriving</a:t>
            </a:r>
            <a:r>
              <a:rPr lang="en-US" dirty="0"/>
              <a:t> tables  from by using ‘select’</a:t>
            </a:r>
          </a:p>
          <a:p>
            <a:r>
              <a:rPr lang="en-US" dirty="0"/>
              <a:t>By using select * we can able to print all  </a:t>
            </a:r>
            <a:r>
              <a:rPr lang="en-US" dirty="0" err="1"/>
              <a:t>colomns</a:t>
            </a:r>
            <a:r>
              <a:rPr lang="en-US" dirty="0"/>
              <a:t>  and rows from tables.</a:t>
            </a:r>
          </a:p>
        </p:txBody>
      </p:sp>
    </p:spTree>
    <p:extLst>
      <p:ext uri="{BB962C8B-B14F-4D97-AF65-F5344CB8AC3E}">
        <p14:creationId xmlns:p14="http://schemas.microsoft.com/office/powerpoint/2010/main" val="20059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E00ED58B-CEC5-4786-807F-E4D0A90B9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12727E8B-B76E-44AE-BA84-72E67FFFF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B4D4A5E-A361-484B-BA87-71470F0CEB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65B2E45B-3291-4196-85CD-8C21E2674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7845E1EB-926E-47C1-8FEA-136188263C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E334D75-621B-40C8-8B6E-F7444F8C0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D652EAB3-B5F2-4AA3-B954-26F38AC67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AD2BE7F-3E20-4AC6-9CFC-41A82B7E7D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786"/>
            <a:ext cx="12229962" cy="6856214"/>
            <a:chOff x="-15736" y="0"/>
            <a:chExt cx="12229962" cy="6856214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E94A0178-54EB-4B40-B93C-A245846BFA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3A2EFE7-A922-4226-AC11-93A972454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8A7A2BEF-6AFB-4298-A452-DF55BF33E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AFDE7160-F7DE-40BE-8AF0-1A6CE69E61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AD78201-55BF-9396-E150-4C70A2EB4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619" y="4404852"/>
            <a:ext cx="9989677" cy="10547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 cap="none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rPr>
              <a:t>Joins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300DC63-2D52-4801-A37C-086809168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11086" y="1092200"/>
            <a:ext cx="8962768" cy="3128346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48298F-0D8C-0A1E-CA2D-A8A99CFE92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80" b="-1"/>
          <a:stretch>
            <a:fillRect/>
          </a:stretch>
        </p:blipFill>
        <p:spPr>
          <a:xfrm>
            <a:off x="1776503" y="1257341"/>
            <a:ext cx="2765517" cy="27980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2A843E-AC35-BDCB-11F1-2206AE47F7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" b="13885"/>
          <a:stretch>
            <a:fillRect/>
          </a:stretch>
        </p:blipFill>
        <p:spPr>
          <a:xfrm>
            <a:off x="4705162" y="1257342"/>
            <a:ext cx="2770067" cy="27980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17C9FA-A790-A623-98B1-7A21520BA3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0099"/>
          <a:stretch>
            <a:fillRect/>
          </a:stretch>
        </p:blipFill>
        <p:spPr>
          <a:xfrm>
            <a:off x="7668951" y="1236007"/>
            <a:ext cx="2770068" cy="2798064"/>
          </a:xfrm>
          <a:prstGeom prst="rect">
            <a:avLst/>
          </a:prstGeom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9310625-7B00-47AC-8816-DB1D867D4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164080" y="5518838"/>
            <a:ext cx="7863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82CC3EC-CB9D-286B-E19F-BB153147A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1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C3DC8-E2B2-4AD5-1856-D3F5172BA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Joins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BE4782-AA1B-DA46-542E-44CDF17639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736" y="2589903"/>
            <a:ext cx="3246229" cy="36496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59E7F5-9C19-1247-F981-30A4937796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723" y="2432869"/>
            <a:ext cx="3612800" cy="30975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8DCAB1-FC4D-AEA2-22F5-674375C716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178" y="2432869"/>
            <a:ext cx="3633099" cy="318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13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49C117F-F390-437B-ADB0-57E87EFF3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7EF42F8-2417-49A6-95CE-DE9503B0A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C6F623B-2003-4AED-B02F-541A150EC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D11837A-4F3D-419F-ACE2-E80B1EA28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9411D1A-7E2C-4A36-BE32-BF7A8E130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0742BC3-654B-4E41-9A6A-73A42E477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75E71FA-50BD-43F8-8C98-04339283A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1AA7F6-A589-4BC8-BC72-2CA6DC9083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3F5243F-7E41-439E-8991-C4F246D88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01A6B5F-1CF1-43AD-9E85-94E187210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2F682A59-7E20-407C-A7F8-582295AC68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E4AC24E-0670-406E-822F-AAA6DA201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54D84A0-5414-5FF4-2B0B-ECFE91D4E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3290" y="1041401"/>
            <a:ext cx="3079006" cy="2345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b="1">
                <a:solidFill>
                  <a:srgbClr val="262626"/>
                </a:solidFill>
              </a:rPr>
              <a:t>SQL Aggregation Functions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9B1776-F953-4C0F-8E85-E9C66B1EF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6432130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A20CF6-3B66-1D56-F4EA-0A6BE22246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7779" y="1410208"/>
            <a:ext cx="5653890" cy="385878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97356D0-D934-42B9-8291-DF34A3AC0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9431" y="3509772"/>
            <a:ext cx="3074977" cy="123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0B7413F-3486-0B66-BEE6-495F4F4DE9B2}"/>
              </a:ext>
            </a:extLst>
          </p:cNvPr>
          <p:cNvSpPr txBox="1"/>
          <p:nvPr/>
        </p:nvSpPr>
        <p:spPr>
          <a:xfrm>
            <a:off x="8013290" y="3760257"/>
            <a:ext cx="32822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This query calculates attendance statistics from the attendance table using aggregate functions</a:t>
            </a:r>
          </a:p>
        </p:txBody>
      </p:sp>
    </p:spTree>
    <p:extLst>
      <p:ext uri="{BB962C8B-B14F-4D97-AF65-F5344CB8AC3E}">
        <p14:creationId xmlns:p14="http://schemas.microsoft.com/office/powerpoint/2010/main" val="716327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CD471-9C0D-368F-FA11-68FC82115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900" b="1" dirty="0"/>
              <a:t>Tables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939FA-44B3-25D0-A1E7-01E170673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8992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184</TotalTime>
  <Words>166</Words>
  <Application>Microsoft Office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Garamond</vt:lpstr>
      <vt:lpstr>Organic</vt:lpstr>
      <vt:lpstr>PowerPoint Presentation</vt:lpstr>
      <vt:lpstr>Data Definition Language</vt:lpstr>
      <vt:lpstr>Data Manipulation Language</vt:lpstr>
      <vt:lpstr>Data Query Language</vt:lpstr>
      <vt:lpstr>Joins</vt:lpstr>
      <vt:lpstr>Joins </vt:lpstr>
      <vt:lpstr>SQL Aggregation Functions </vt:lpstr>
      <vt:lpstr>Tables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KUMAR</dc:creator>
  <cp:lastModifiedBy>MANOJ KUMAR</cp:lastModifiedBy>
  <cp:revision>2</cp:revision>
  <dcterms:created xsi:type="dcterms:W3CDTF">2026-06-12T14:46:51Z</dcterms:created>
  <dcterms:modified xsi:type="dcterms:W3CDTF">2026-06-12T17:51:11Z</dcterms:modified>
</cp:coreProperties>
</file>